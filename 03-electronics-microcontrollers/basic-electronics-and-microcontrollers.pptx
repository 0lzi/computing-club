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14.png" ContentType="image/png"/>
  <Override PartName="/ppt/media/image5.png" ContentType="image/png"/>
  <Override PartName="/ppt/media/image21.png" ContentType="image/png"/>
  <Override PartName="/ppt/media/image19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BF8B86-4E22-4635-AC78-DECF1AD4AA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endParaRPr b="0" lang="en-GB" sz="4500" spc="-1" strike="noStrike">
              <a:solidFill>
                <a:srgbClr val="04617b"/>
              </a:solidFill>
              <a:latin typeface="Noto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40000" y="1440000"/>
            <a:ext cx="9000000" cy="40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A5399B-B5F1-40C8-9157-87D1591D54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B4D4B4-12FD-4657-AF7D-493F130031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B53F241-FB4A-4347-BD34-291EF89C35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3780000"/>
            <a:ext cx="10080000" cy="18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36000" dir="162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en-GB" sz="22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dt" idx="1"/>
          </p:nvPr>
        </p:nvSpPr>
        <p:spPr>
          <a:xfrm>
            <a:off x="450000" y="5130000"/>
            <a:ext cx="2340000" cy="450000"/>
          </a:xfrm>
          <a:prstGeom prst="rect">
            <a:avLst/>
          </a:prstGeom>
          <a:noFill/>
          <a:ln w="0">
            <a:solidFill>
              <a:srgbClr val="808080"/>
            </a:solidFill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2400" spc="-1" strike="noStrike">
                <a:solidFill>
                  <a:srgbClr val="dbf5f9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GB" sz="2400" spc="-1" strike="noStrike">
                <a:solidFill>
                  <a:srgbClr val="dbf5f9"/>
                </a:solidFill>
                <a:latin typeface="Noto Sans"/>
              </a:rPr>
              <a:t>&lt;date/time&gt;</a:t>
            </a:r>
            <a:r>
              <a:rPr b="0" lang="en-GB" sz="2400" spc="-1" strike="noStrike">
                <a:solidFill>
                  <a:srgbClr val="dbf5f9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dbf5f9"/>
              </a:solidFill>
              <a:latin typeface="Noto Sans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solidFill>
              <a:srgbClr val="808080"/>
            </a:solidFill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2400" spc="-1" strike="noStrike">
                <a:solidFill>
                  <a:srgbClr val="dbf5f9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GB" sz="2400" spc="-1" strike="noStrike">
                <a:solidFill>
                  <a:srgbClr val="dbf5f9"/>
                </a:solidFill>
                <a:latin typeface="Noto Sans"/>
              </a:rPr>
              <a:t>&lt;footer&gt;</a:t>
            </a:r>
            <a:r>
              <a:rPr b="0" lang="en-GB" sz="2400" spc="-1" strike="noStrike">
                <a:solidFill>
                  <a:srgbClr val="dbf5f9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dbf5f9"/>
              </a:solidFill>
              <a:latin typeface="Noto Sans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3"/>
          </p:nvPr>
        </p:nvSpPr>
        <p:spPr>
          <a:xfrm>
            <a:off x="7200000" y="5130000"/>
            <a:ext cx="2340000" cy="450000"/>
          </a:xfrm>
          <a:prstGeom prst="rect">
            <a:avLst/>
          </a:prstGeom>
          <a:noFill/>
          <a:ln w="0">
            <a:solidFill>
              <a:srgbClr val="808080"/>
            </a:solidFill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2400" spc="-1" strike="noStrike">
                <a:solidFill>
                  <a:srgbClr val="dbf5f9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5AC6E631-F08A-4683-A927-D0EC329DC457}" type="slidenum">
              <a:rPr b="0" lang="en-GB" sz="2400" spc="-1" strike="noStrike">
                <a:solidFill>
                  <a:srgbClr val="dbf5f9"/>
                </a:solidFill>
                <a:latin typeface="Noto Sans"/>
              </a:rPr>
              <a:t>&lt;number&gt;</a:t>
            </a:fld>
            <a:r>
              <a:rPr b="0" lang="en-GB" sz="2400" spc="-1" strike="noStrike">
                <a:solidFill>
                  <a:srgbClr val="dbf5f9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dbf5f9"/>
              </a:solidFill>
              <a:latin typeface="Noto Sans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450000" y="270000"/>
            <a:ext cx="9000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en-GB" sz="6000" spc="-1" strike="noStrike">
                <a:solidFill>
                  <a:srgbClr val="04617b"/>
                </a:solidFill>
                <a:latin typeface="Noto Sans"/>
              </a:rPr>
              <a:t>Click to edit the title text format</a:t>
            </a:r>
            <a:endParaRPr b="0" lang="en-GB" sz="6000" spc="-1" strike="noStrike">
              <a:solidFill>
                <a:srgbClr val="04617b"/>
              </a:solidFill>
              <a:latin typeface="Noto Sans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450000" y="3870000"/>
            <a:ext cx="9000000" cy="11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6182"/>
          </a:bodyPr>
          <a:p>
            <a:pPr marL="432000" indent="-324000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GB" sz="2100" spc="-1" strike="noStrike">
                <a:solidFill>
                  <a:srgbClr val="dbf5f9"/>
                </a:solidFill>
                <a:latin typeface="Noto Sans"/>
              </a:rPr>
              <a:t>Click to edit the outline text format</a:t>
            </a:r>
            <a:endParaRPr b="0" lang="en-GB" sz="2100" spc="-1" strike="noStrike">
              <a:solidFill>
                <a:srgbClr val="dbf5f9"/>
              </a:solidFill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en-GB" sz="1650" spc="-1" strike="noStrike">
                <a:solidFill>
                  <a:srgbClr val="dbf5f9"/>
                </a:solidFill>
                <a:latin typeface="Noto Sans"/>
              </a:rPr>
              <a:t>Second Outline Level</a:t>
            </a:r>
            <a:endParaRPr b="0" lang="en-GB" sz="1650" spc="-1" strike="noStrike">
              <a:solidFill>
                <a:srgbClr val="dbf5f9"/>
              </a:solidFill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dbf5f9"/>
                </a:solidFill>
                <a:latin typeface="Noto Sans"/>
              </a:rPr>
              <a:t>Third Outline Level</a:t>
            </a:r>
            <a:endParaRPr b="0" lang="en-GB" sz="1800" spc="-1" strike="noStrike">
              <a:solidFill>
                <a:srgbClr val="dbf5f9"/>
              </a:solidFill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en-GB" sz="1500" spc="-1" strike="noStrike">
                <a:solidFill>
                  <a:srgbClr val="dbf5f9"/>
                </a:solidFill>
                <a:latin typeface="Noto Sans"/>
              </a:rPr>
              <a:t>Fourth Outline Level</a:t>
            </a:r>
            <a:endParaRPr b="0" lang="en-GB" sz="1500" spc="-1" strike="noStrike">
              <a:solidFill>
                <a:srgbClr val="dbf5f9"/>
              </a:solidFill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dbf5f9"/>
                </a:solidFill>
                <a:latin typeface="Noto Sans"/>
              </a:rPr>
              <a:t>Fifth Outline Level</a:t>
            </a:r>
            <a:endParaRPr b="0" lang="en-GB" sz="1500" spc="-1" strike="noStrike">
              <a:solidFill>
                <a:srgbClr val="dbf5f9"/>
              </a:solidFill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dbf5f9"/>
                </a:solidFill>
                <a:latin typeface="Noto Sans"/>
              </a:rPr>
              <a:t>Sixth Outline Level</a:t>
            </a:r>
            <a:endParaRPr b="0" lang="en-GB" sz="1500" spc="-1" strike="noStrike">
              <a:solidFill>
                <a:srgbClr val="dbf5f9"/>
              </a:solidFill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dbf5f9"/>
                </a:solidFill>
                <a:latin typeface="Noto Sans"/>
              </a:rPr>
              <a:t>Seventh Outline Level</a:t>
            </a:r>
            <a:endParaRPr b="0" lang="en-GB" sz="1500" spc="-1" strike="noStrike">
              <a:solidFill>
                <a:srgbClr val="dbf5f9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10800" dir="54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en-GB" sz="22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40000" y="9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en-GB" sz="4500" spc="-1" strike="noStrike">
                <a:solidFill>
                  <a:srgbClr val="ffffff"/>
                </a:solidFill>
                <a:latin typeface="Noto Sans"/>
              </a:rPr>
              <a:t>Click to edit the title text format</a:t>
            </a:r>
            <a:endParaRPr b="0" lang="en-GB" sz="45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35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GB" sz="24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GB" sz="21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GB" sz="21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540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&lt;date/time&gt;</a:t>
            </a:r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484848"/>
              </a:solidFill>
              <a:latin typeface="Noto Sans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&lt;footer&gt;</a:t>
            </a:r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484848"/>
              </a:solidFill>
              <a:latin typeface="Noto Sans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200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2A51F4CB-2589-4A63-86D4-8778C79264FB}" type="slidenum">
              <a:rPr b="0" lang="en-GB" sz="2400" spc="-1" strike="noStrike">
                <a:solidFill>
                  <a:srgbClr val="484848"/>
                </a:solidFill>
                <a:latin typeface="Noto Sans"/>
              </a:rPr>
              <a:t>&lt;number&gt;</a:t>
            </a:fld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484848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flipV="1">
            <a:off x="0" y="0"/>
            <a:ext cx="10080000" cy="1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10800" dir="54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en-GB" sz="2200" spc="-1" strike="noStrike">
              <a:solidFill>
                <a:srgbClr val="ffffff"/>
              </a:solidFill>
              <a:latin typeface="Noto Sans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r>
              <a:rPr b="0" lang="en-GB" sz="4500" spc="-1" strike="noStrike">
                <a:solidFill>
                  <a:srgbClr val="04617b"/>
                </a:solidFill>
                <a:latin typeface="Noto Sans"/>
              </a:rPr>
              <a:t>Click to edit the title text format</a:t>
            </a:r>
            <a:endParaRPr b="0" lang="en-GB" sz="4500" spc="-1" strike="noStrike">
              <a:solidFill>
                <a:srgbClr val="04617b"/>
              </a:solidFill>
              <a:latin typeface="Noto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40000" y="1440000"/>
            <a:ext cx="9000000" cy="40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Noto Sans"/>
              </a:rPr>
              <a:t>Click to edit the outline text format</a:t>
            </a:r>
            <a:endParaRPr b="0" lang="en-GB" sz="2400" spc="-1" strike="noStrike">
              <a:solidFill>
                <a:srgbClr val="000000"/>
              </a:solidFill>
              <a:latin typeface="Noto Sans"/>
            </a:endParaRPr>
          </a:p>
          <a:p>
            <a:pPr lvl="1" marL="864000" indent="-324000"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b="0" lang="en-GB" sz="2100" spc="-1" strike="noStrike">
                <a:solidFill>
                  <a:srgbClr val="000000"/>
                </a:solidFill>
                <a:latin typeface="Noto Sans"/>
              </a:rPr>
              <a:t>Second Outline Level</a:t>
            </a:r>
            <a:endParaRPr b="0" lang="en-GB" sz="2100" spc="-1" strike="noStrike">
              <a:solidFill>
                <a:srgbClr val="000000"/>
              </a:solidFill>
              <a:latin typeface="Noto Sans"/>
            </a:endParaRPr>
          </a:p>
          <a:p>
            <a:pPr lvl="2" marL="1296000" indent="-288000"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  <a:p>
            <a:pPr lvl="3" marL="1728000" indent="-216000"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  <a:p>
            <a:pPr lvl="4" marL="2160000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  <a:p>
            <a:pPr lvl="5" marL="2592000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  <a:p>
            <a:pPr lvl="6" marL="3024000" indent="-216000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Noto Sans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540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>
              <a:buNone/>
            </a:pPr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&lt;date/time&gt;</a:t>
            </a:r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484848"/>
              </a:solidFill>
              <a:latin typeface="Noto San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20000" y="51192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 algn="ctr">
              <a:buNone/>
            </a:pPr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&lt;footer&gt;</a:t>
            </a:r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484848"/>
              </a:solidFill>
              <a:latin typeface="Noto Sans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650000" y="5130000"/>
            <a:ext cx="1890000" cy="4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2400" spc="-1" strike="noStrike">
                <a:solidFill>
                  <a:srgbClr val="484848"/>
                </a:solidFill>
                <a:latin typeface="Noto Sans"/>
              </a:defRPr>
            </a:lvl1pPr>
          </a:lstStyle>
          <a:p>
            <a:pPr indent="0" algn="r">
              <a:buNone/>
            </a:pPr>
            <a:fld id="{F2C19E8A-DC42-4DB2-ACB3-31FC89C47C1F}" type="slidenum">
              <a:rPr b="0" lang="en-GB" sz="2400" spc="-1" strike="noStrike">
                <a:solidFill>
                  <a:srgbClr val="484848"/>
                </a:solidFill>
                <a:latin typeface="Noto Sans"/>
              </a:rPr>
              <a:t>&lt;number&gt;</a:t>
            </a:fld>
            <a:r>
              <a:rPr b="0" lang="en-GB" sz="2400" spc="-1" strike="noStrike">
                <a:solidFill>
                  <a:srgbClr val="484848"/>
                </a:solidFill>
                <a:latin typeface="Noto Sans"/>
              </a:rPr>
              <a:t> </a:t>
            </a:r>
            <a:endParaRPr b="0" lang="en-GB" sz="2400" spc="-1" strike="noStrike">
              <a:solidFill>
                <a:srgbClr val="484848"/>
              </a:solidFill>
              <a:latin typeface="Noto Sans"/>
            </a:endParaRPr>
          </a:p>
        </p:txBody>
      </p:sp>
      <p:sp>
        <p:nvSpPr>
          <p:cNvPr id="20" name=""/>
          <p:cNvSpPr/>
          <p:nvPr/>
        </p:nvSpPr>
        <p:spPr>
          <a:xfrm>
            <a:off x="0" y="5580000"/>
            <a:ext cx="10080000" cy="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10800" dir="16200000" blurRad="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endParaRPr b="0" lang="en-GB" sz="2200" spc="-1" strike="noStrike">
              <a:solidFill>
                <a:srgbClr val="ffffff"/>
              </a:solidFill>
              <a:latin typeface="Noto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9000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algn="ctr">
              <a:buNone/>
            </a:pPr>
            <a:r>
              <a:rPr b="0" lang="en-GB" sz="6000" spc="-1" strike="noStrike">
                <a:solidFill>
                  <a:srgbClr val="04617b"/>
                </a:solidFill>
                <a:latin typeface="Noto Sans"/>
              </a:rPr>
              <a:t>Basic Electronics and Microcontrollers</a:t>
            </a:r>
            <a:endParaRPr b="0" lang="en-GB" sz="6000" spc="-1" strike="noStrike">
              <a:solidFill>
                <a:srgbClr val="04617b"/>
              </a:solidFill>
              <a:latin typeface="Noto Sans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subTitle"/>
          </p:nvPr>
        </p:nvSpPr>
        <p:spPr>
          <a:xfrm>
            <a:off x="502920" y="630720"/>
            <a:ext cx="9071640" cy="4388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Electronics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 txBox="1"/>
          <p:nvPr/>
        </p:nvSpPr>
        <p:spPr>
          <a:xfrm>
            <a:off x="360000" y="360000"/>
            <a:ext cx="9360000" cy="90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Electronic Components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1260000" y="1260000"/>
            <a:ext cx="3240000" cy="414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a933"/>
                </a:solidFill>
                <a:latin typeface="Noto Sans"/>
              </a:rPr>
              <a:t>- LED’s / Diodes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a933"/>
                </a:solidFill>
                <a:latin typeface="Noto Sans"/>
              </a:rPr>
              <a:t>- Buttons / Switches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Sensors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a933"/>
                </a:solidFill>
                <a:latin typeface="Noto Sans"/>
              </a:rPr>
              <a:t>- Resistors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Transistors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Capacitors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Motors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Relay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Displays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860000" y="1260000"/>
            <a:ext cx="3240000" cy="414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a933"/>
                </a:solidFill>
                <a:latin typeface="Noto Sans"/>
              </a:rPr>
              <a:t>- Breadboards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IC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Battery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Transformer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Inductor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Thermistor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Light Dependent Resistor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Potentiometer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LEDs / Diodes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pic>
        <p:nvPicPr>
          <p:cNvPr id="27" name="" descr=""/>
          <p:cNvPicPr/>
          <p:nvPr/>
        </p:nvPicPr>
        <p:blipFill>
          <a:blip r:embed="rId1"/>
          <a:stretch/>
        </p:blipFill>
        <p:spPr>
          <a:xfrm>
            <a:off x="360000" y="982440"/>
            <a:ext cx="2847960" cy="1897560"/>
          </a:xfrm>
          <a:prstGeom prst="rect">
            <a:avLst/>
          </a:prstGeom>
          <a:ln w="18000">
            <a:noFill/>
          </a:ln>
        </p:spPr>
      </p:pic>
      <p:pic>
        <p:nvPicPr>
          <p:cNvPr id="28" name="" descr=""/>
          <p:cNvPicPr/>
          <p:nvPr/>
        </p:nvPicPr>
        <p:blipFill>
          <a:blip r:embed="rId2"/>
          <a:stretch/>
        </p:blipFill>
        <p:spPr>
          <a:xfrm>
            <a:off x="1049760" y="3495240"/>
            <a:ext cx="3090240" cy="1364760"/>
          </a:xfrm>
          <a:prstGeom prst="rect">
            <a:avLst/>
          </a:prstGeom>
          <a:ln w="18000">
            <a:noFill/>
          </a:ln>
        </p:spPr>
      </p:pic>
      <p:sp>
        <p:nvSpPr>
          <p:cNvPr id="29" name=""/>
          <p:cNvSpPr txBox="1"/>
          <p:nvPr/>
        </p:nvSpPr>
        <p:spPr>
          <a:xfrm>
            <a:off x="4680000" y="1440000"/>
            <a:ext cx="4680000" cy="342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LEDs – Light Emitting Diode is a component that gives off light when electricity is passed through it.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Diode – The diode and including the LED only allows electricity to pass through in 1 direction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30" name="" descr=""/>
          <p:cNvPicPr/>
          <p:nvPr/>
        </p:nvPicPr>
        <p:blipFill>
          <a:blip r:embed="rId3"/>
          <a:stretch/>
        </p:blipFill>
        <p:spPr>
          <a:xfrm>
            <a:off x="3672720" y="1440000"/>
            <a:ext cx="647280" cy="2180880"/>
          </a:xfrm>
          <a:prstGeom prst="rect">
            <a:avLst/>
          </a:prstGeom>
          <a:ln w="18000">
            <a:noFill/>
          </a:ln>
        </p:spPr>
      </p:pic>
      <p:sp>
        <p:nvSpPr>
          <p:cNvPr id="31" name=""/>
          <p:cNvSpPr txBox="1"/>
          <p:nvPr/>
        </p:nvSpPr>
        <p:spPr>
          <a:xfrm>
            <a:off x="3780000" y="2966400"/>
            <a:ext cx="900000" cy="4536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    +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135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Buttons and Switches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pic>
        <p:nvPicPr>
          <p:cNvPr id="33" name="" descr=""/>
          <p:cNvPicPr/>
          <p:nvPr/>
        </p:nvPicPr>
        <p:blipFill>
          <a:blip r:embed="rId1"/>
          <a:stretch/>
        </p:blipFill>
        <p:spPr>
          <a:xfrm>
            <a:off x="360000" y="3420000"/>
            <a:ext cx="2230920" cy="1254960"/>
          </a:xfrm>
          <a:prstGeom prst="rect">
            <a:avLst/>
          </a:prstGeom>
          <a:ln w="18000">
            <a:noFill/>
          </a:ln>
        </p:spPr>
      </p:pic>
      <p:pic>
        <p:nvPicPr>
          <p:cNvPr id="34" name="" descr=""/>
          <p:cNvPicPr/>
          <p:nvPr/>
        </p:nvPicPr>
        <p:blipFill>
          <a:blip r:embed="rId2"/>
          <a:stretch/>
        </p:blipFill>
        <p:spPr>
          <a:xfrm>
            <a:off x="458640" y="1661760"/>
            <a:ext cx="2241360" cy="1398240"/>
          </a:xfrm>
          <a:prstGeom prst="rect">
            <a:avLst/>
          </a:prstGeom>
          <a:ln w="18000"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/>
        </p:blipFill>
        <p:spPr>
          <a:xfrm>
            <a:off x="2811960" y="1620000"/>
            <a:ext cx="2228040" cy="1475280"/>
          </a:xfrm>
          <a:prstGeom prst="rect">
            <a:avLst/>
          </a:prstGeom>
          <a:ln w="18000">
            <a:noFill/>
          </a:ln>
        </p:spPr>
      </p:pic>
      <p:sp>
        <p:nvSpPr>
          <p:cNvPr id="36" name=""/>
          <p:cNvSpPr txBox="1"/>
          <p:nvPr/>
        </p:nvSpPr>
        <p:spPr>
          <a:xfrm>
            <a:off x="5400000" y="1578240"/>
            <a:ext cx="4140000" cy="350352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Switch – A component that turns on/off the flow of electricity by opening and closing the circuit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Buttons – Act like a switch but normally have a spring inside to pop the circuit open after you have let go.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37" name="" descr=""/>
          <p:cNvPicPr/>
          <p:nvPr/>
        </p:nvPicPr>
        <p:blipFill>
          <a:blip r:embed="rId4"/>
          <a:stretch/>
        </p:blipFill>
        <p:spPr>
          <a:xfrm>
            <a:off x="2925720" y="3420000"/>
            <a:ext cx="2114280" cy="1328400"/>
          </a:xfrm>
          <a:prstGeom prst="rect">
            <a:avLst/>
          </a:prstGeom>
          <a:ln w="18000">
            <a:noFill/>
          </a:ln>
        </p:spPr>
      </p:pic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11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Breadboards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4860000" y="1440000"/>
            <a:ext cx="4860000" cy="378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Breadboards are reusable platform to build electronic circuits on without soldering, these are great for prototyping projects.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65520" y="1713600"/>
            <a:ext cx="4794480" cy="3146400"/>
          </a:xfrm>
          <a:prstGeom prst="rect">
            <a:avLst/>
          </a:prstGeom>
          <a:ln w="18000">
            <a:noFill/>
          </a:ln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11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Resistors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360000" y="540000"/>
            <a:ext cx="1980000" cy="1584000"/>
          </a:xfrm>
          <a:prstGeom prst="rect">
            <a:avLst/>
          </a:prstGeom>
          <a:ln w="18000">
            <a:noFill/>
          </a:ln>
        </p:spPr>
      </p:pic>
      <p:pic>
        <p:nvPicPr>
          <p:cNvPr id="43" name="" descr=""/>
          <p:cNvPicPr/>
          <p:nvPr/>
        </p:nvPicPr>
        <p:blipFill>
          <a:blip r:embed="rId2"/>
          <a:stretch/>
        </p:blipFill>
        <p:spPr>
          <a:xfrm>
            <a:off x="1700640" y="1715040"/>
            <a:ext cx="2439360" cy="1884960"/>
          </a:xfrm>
          <a:prstGeom prst="rect">
            <a:avLst/>
          </a:prstGeom>
          <a:ln w="18000">
            <a:noFill/>
          </a:ln>
        </p:spPr>
      </p:pic>
      <p:pic>
        <p:nvPicPr>
          <p:cNvPr id="44" name="" descr=""/>
          <p:cNvPicPr/>
          <p:nvPr/>
        </p:nvPicPr>
        <p:blipFill>
          <a:blip r:embed="rId3"/>
          <a:stretch/>
        </p:blipFill>
        <p:spPr>
          <a:xfrm>
            <a:off x="360000" y="3728880"/>
            <a:ext cx="3782160" cy="1311120"/>
          </a:xfrm>
          <a:prstGeom prst="rect">
            <a:avLst/>
          </a:prstGeom>
          <a:ln w="18000">
            <a:noFill/>
          </a:ln>
        </p:spPr>
      </p:pic>
      <p:sp>
        <p:nvSpPr>
          <p:cNvPr id="45" name=""/>
          <p:cNvSpPr txBox="1"/>
          <p:nvPr/>
        </p:nvSpPr>
        <p:spPr>
          <a:xfrm>
            <a:off x="4680000" y="1440000"/>
            <a:ext cx="4860000" cy="360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Resistors – Restrict the current of electricity flow, these are commonly used with LEDs so they don’t burn out.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Think of this like a tap turning the flow of water down, more resistance less water.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117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Microcontrollers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540000" y="2936880"/>
            <a:ext cx="1563120" cy="1563120"/>
          </a:xfrm>
          <a:prstGeom prst="rect">
            <a:avLst/>
          </a:prstGeom>
          <a:ln w="18000">
            <a:noFill/>
          </a:ln>
        </p:spPr>
      </p:pic>
      <p:pic>
        <p:nvPicPr>
          <p:cNvPr id="48" name="" descr=""/>
          <p:cNvPicPr/>
          <p:nvPr/>
        </p:nvPicPr>
        <p:blipFill>
          <a:blip r:embed="rId2"/>
          <a:stretch/>
        </p:blipFill>
        <p:spPr>
          <a:xfrm>
            <a:off x="1530720" y="1868040"/>
            <a:ext cx="2069280" cy="1551960"/>
          </a:xfrm>
          <a:prstGeom prst="rect">
            <a:avLst/>
          </a:prstGeom>
          <a:ln w="18000">
            <a:noFill/>
          </a:ln>
        </p:spPr>
      </p:pic>
      <p:pic>
        <p:nvPicPr>
          <p:cNvPr id="49" name="" descr=""/>
          <p:cNvPicPr/>
          <p:nvPr/>
        </p:nvPicPr>
        <p:blipFill>
          <a:blip r:embed="rId3"/>
          <a:stretch/>
        </p:blipFill>
        <p:spPr>
          <a:xfrm>
            <a:off x="588600" y="1260000"/>
            <a:ext cx="1211400" cy="1281600"/>
          </a:xfrm>
          <a:prstGeom prst="rect">
            <a:avLst/>
          </a:prstGeom>
          <a:ln w="18000">
            <a:noFill/>
          </a:ln>
        </p:spPr>
      </p:pic>
      <p:sp>
        <p:nvSpPr>
          <p:cNvPr id="50" name=""/>
          <p:cNvSpPr txBox="1"/>
          <p:nvPr/>
        </p:nvSpPr>
        <p:spPr>
          <a:xfrm>
            <a:off x="4140000" y="1080000"/>
            <a:ext cx="5040000" cy="432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A Microcontroller is a small computer on a single integrated circuit, It contains a small processor and programmable inputs/outputs and a small flash memory to store programs that run when powered up.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81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First Circuit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471960" y="1260000"/>
            <a:ext cx="5648040" cy="3790440"/>
          </a:xfrm>
          <a:prstGeom prst="rect">
            <a:avLst/>
          </a:prstGeom>
          <a:ln w="18000">
            <a:noFill/>
          </a:ln>
        </p:spPr>
      </p:pic>
      <p:sp>
        <p:nvSpPr>
          <p:cNvPr id="53" name=""/>
          <p:cNvSpPr txBox="1"/>
          <p:nvPr/>
        </p:nvSpPr>
        <p:spPr>
          <a:xfrm>
            <a:off x="6300000" y="1260000"/>
            <a:ext cx="3420000" cy="3960000"/>
          </a:xfrm>
          <a:prstGeom prst="rect">
            <a:avLst/>
          </a:prstGeom>
          <a:noFill/>
          <a:ln w="1800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Item List: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Breadboard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LED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- 200 Ohm Ω resistor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  <a:p>
            <a:r>
              <a:rPr b="0" lang="en-GB" sz="2200" spc="-1" strike="noStrike">
                <a:solidFill>
                  <a:srgbClr val="000000"/>
                </a:solidFill>
                <a:latin typeface="Noto Sans"/>
              </a:rPr>
              <a:t>- Coin Cell 3V Battery</a:t>
            </a:r>
            <a:endParaRPr b="0" lang="en-GB" sz="2200" spc="-1" strike="noStrike">
              <a:solidFill>
                <a:srgbClr val="000000"/>
              </a:solidFill>
              <a:latin typeface="Noto Sans"/>
            </a:endParaRPr>
          </a:p>
        </p:txBody>
      </p:sp>
      <p:pic>
        <p:nvPicPr>
          <p:cNvPr id="54" name="" descr=""/>
          <p:cNvPicPr/>
          <p:nvPr/>
        </p:nvPicPr>
        <p:blipFill>
          <a:blip r:embed="rId2"/>
          <a:stretch/>
        </p:blipFill>
        <p:spPr>
          <a:xfrm>
            <a:off x="468000" y="1249560"/>
            <a:ext cx="5648040" cy="3790440"/>
          </a:xfrm>
          <a:prstGeom prst="rect">
            <a:avLst/>
          </a:prstGeom>
          <a:ln w="18000">
            <a:noFill/>
          </a:ln>
        </p:spPr>
      </p:pic>
      <p:pic>
        <p:nvPicPr>
          <p:cNvPr id="55" name="" descr=""/>
          <p:cNvPicPr/>
          <p:nvPr/>
        </p:nvPicPr>
        <p:blipFill>
          <a:blip r:embed="rId3"/>
          <a:stretch/>
        </p:blipFill>
        <p:spPr>
          <a:xfrm>
            <a:off x="6120000" y="1153800"/>
            <a:ext cx="3476160" cy="466200"/>
          </a:xfrm>
          <a:prstGeom prst="rect">
            <a:avLst/>
          </a:prstGeom>
          <a:ln w="18000">
            <a:noFill/>
          </a:ln>
        </p:spPr>
      </p:pic>
      <p:pic>
        <p:nvPicPr>
          <p:cNvPr id="56" name="" descr=""/>
          <p:cNvPicPr/>
          <p:nvPr/>
        </p:nvPicPr>
        <p:blipFill>
          <a:blip r:embed="rId4"/>
          <a:stretch/>
        </p:blipFill>
        <p:spPr>
          <a:xfrm>
            <a:off x="6120000" y="1189800"/>
            <a:ext cx="3476160" cy="466200"/>
          </a:xfrm>
          <a:prstGeom prst="rect">
            <a:avLst/>
          </a:prstGeom>
          <a:ln w="18000">
            <a:noFill/>
          </a:ln>
        </p:spPr>
      </p:pic>
      <p:pic>
        <p:nvPicPr>
          <p:cNvPr id="57" name="" descr=""/>
          <p:cNvPicPr/>
          <p:nvPr/>
        </p:nvPicPr>
        <p:blipFill>
          <a:blip r:embed="rId5"/>
          <a:stretch/>
        </p:blipFill>
        <p:spPr>
          <a:xfrm>
            <a:off x="262440" y="1249560"/>
            <a:ext cx="5857560" cy="3285720"/>
          </a:xfrm>
          <a:prstGeom prst="rect">
            <a:avLst/>
          </a:prstGeom>
          <a:ln w="18000">
            <a:noFill/>
          </a:ln>
        </p:spPr>
      </p:pic>
      <p:pic>
        <p:nvPicPr>
          <p:cNvPr id="58" name="" descr=""/>
          <p:cNvPicPr/>
          <p:nvPr/>
        </p:nvPicPr>
        <p:blipFill>
          <a:blip r:embed="rId6"/>
          <a:stretch/>
        </p:blipFill>
        <p:spPr>
          <a:xfrm>
            <a:off x="1506600" y="1800000"/>
            <a:ext cx="3533400" cy="2257200"/>
          </a:xfrm>
          <a:prstGeom prst="rect">
            <a:avLst/>
          </a:prstGeom>
          <a:ln w="18000">
            <a:noFill/>
          </a:ln>
        </p:spPr>
      </p:pic>
      <p:pic>
        <p:nvPicPr>
          <p:cNvPr id="59" name="" descr=""/>
          <p:cNvPicPr/>
          <p:nvPr/>
        </p:nvPicPr>
        <p:blipFill>
          <a:blip r:embed="rId7"/>
          <a:stretch/>
        </p:blipFill>
        <p:spPr>
          <a:xfrm>
            <a:off x="2811240" y="2160000"/>
            <a:ext cx="3304800" cy="1275840"/>
          </a:xfrm>
          <a:prstGeom prst="rect">
            <a:avLst/>
          </a:prstGeom>
          <a:ln w="18000">
            <a:noFill/>
          </a:ln>
        </p:spPr>
      </p:pic>
      <p:pic>
        <p:nvPicPr>
          <p:cNvPr id="60" name="" descr=""/>
          <p:cNvPicPr/>
          <p:nvPr/>
        </p:nvPicPr>
        <p:blipFill>
          <a:blip r:embed="rId8"/>
          <a:stretch/>
        </p:blipFill>
        <p:spPr>
          <a:xfrm>
            <a:off x="1260000" y="1816200"/>
            <a:ext cx="3924000" cy="2323800"/>
          </a:xfrm>
          <a:prstGeom prst="rect">
            <a:avLst/>
          </a:prstGeom>
          <a:ln w="18000"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Blinking LED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360" y="1260000"/>
            <a:ext cx="10079640" cy="4281120"/>
          </a:xfrm>
          <a:prstGeom prst="rect">
            <a:avLst/>
          </a:prstGeom>
          <a:ln w="18000">
            <a:noFill/>
          </a:ln>
        </p:spPr>
      </p:pic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Code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99720" y="1080000"/>
            <a:ext cx="4400280" cy="4343040"/>
          </a:xfrm>
          <a:prstGeom prst="rect">
            <a:avLst/>
          </a:prstGeom>
          <a:ln w="18000">
            <a:noFill/>
          </a:ln>
        </p:spPr>
      </p:pic>
      <p:pic>
        <p:nvPicPr>
          <p:cNvPr id="65" name="" descr=""/>
          <p:cNvPicPr/>
          <p:nvPr/>
        </p:nvPicPr>
        <p:blipFill>
          <a:blip r:embed="rId2"/>
          <a:stretch/>
        </p:blipFill>
        <p:spPr>
          <a:xfrm>
            <a:off x="4070160" y="1476000"/>
            <a:ext cx="6009840" cy="3304800"/>
          </a:xfrm>
          <a:prstGeom prst="rect">
            <a:avLst/>
          </a:prstGeom>
          <a:ln w="18000">
            <a:noFill/>
          </a:ln>
        </p:spPr>
      </p:pic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540000" y="270000"/>
            <a:ext cx="9000000" cy="9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GB" sz="4000" spc="-1" strike="noStrike">
                <a:solidFill>
                  <a:srgbClr val="009eda"/>
                </a:solidFill>
                <a:latin typeface="Noto Sans"/>
              </a:rPr>
              <a:t>Button Buzzer</a:t>
            </a:r>
            <a:endParaRPr b="1" lang="en-GB" sz="4000" spc="-1" strike="noStrike">
              <a:solidFill>
                <a:srgbClr val="009eda"/>
              </a:solidFill>
              <a:latin typeface="Noto Sans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330480" y="1080000"/>
            <a:ext cx="9029520" cy="4419360"/>
          </a:xfrm>
          <a:prstGeom prst="rect">
            <a:avLst/>
          </a:prstGeom>
          <a:ln w="18000">
            <a:noFill/>
          </a:ln>
        </p:spPr>
      </p:pic>
      <p:pic>
        <p:nvPicPr>
          <p:cNvPr id="68" name="" descr=""/>
          <p:cNvPicPr/>
          <p:nvPr/>
        </p:nvPicPr>
        <p:blipFill>
          <a:blip r:embed="rId2"/>
          <a:stretch/>
        </p:blipFill>
        <p:spPr>
          <a:xfrm>
            <a:off x="6300000" y="2340000"/>
            <a:ext cx="2687400" cy="1688400"/>
          </a:xfrm>
          <a:prstGeom prst="rect">
            <a:avLst/>
          </a:prstGeom>
          <a:ln w="18000">
            <a:noFill/>
          </a:ln>
        </p:spPr>
      </p:pic>
      <p:sp>
        <p:nvSpPr>
          <p:cNvPr id="69" name=""/>
          <p:cNvSpPr/>
          <p:nvPr/>
        </p:nvSpPr>
        <p:spPr>
          <a:xfrm>
            <a:off x="3816000" y="2880000"/>
            <a:ext cx="0" cy="540000"/>
          </a:xfrm>
          <a:prstGeom prst="line">
            <a:avLst/>
          </a:prstGeom>
          <a:ln w="180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endParaRPr b="0" lang="en-GB" sz="2200" spc="-1" strike="noStrike" baseline="-80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70" name=""/>
          <p:cNvSpPr/>
          <p:nvPr/>
        </p:nvSpPr>
        <p:spPr>
          <a:xfrm>
            <a:off x="4140000" y="2880000"/>
            <a:ext cx="0" cy="540000"/>
          </a:xfrm>
          <a:prstGeom prst="line">
            <a:avLst/>
          </a:prstGeom>
          <a:ln w="180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endParaRPr b="0" lang="en-GB" sz="2200" spc="-1" strike="noStrike" baseline="-8000">
              <a:solidFill>
                <a:srgbClr val="000000"/>
              </a:solidFill>
              <a:latin typeface="Noto San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2026-03-12T11:31:53Z</dcterms:created>
  <dc:creator/>
  <dc:description/>
  <dc:language>en-GB</dc:language>
  <cp:lastModifiedBy/>
  <dcterms:modified xsi:type="dcterms:W3CDTF">2026-03-12T13:01:09Z</dcterms:modified>
  <cp:revision>4</cp:revision>
  <dc:subject/>
  <dc:title>Vivid</dc:title>
</cp:coreProperties>
</file>