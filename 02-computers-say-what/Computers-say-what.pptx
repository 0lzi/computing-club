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  <p:sldMasterId id="2147483654" r:id="rId4"/>
    <p:sldMasterId id="2147483655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CD7D9-1F73-4F3A-BB28-FC374C83F1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4BD330-4E37-43D4-B422-E550896933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Blueprint Pla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500327-54E7-4977-83D3-25671E450E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4"/>
              </a:spcBef>
              <a:buNone/>
            </a:pP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BC28A2-9357-4117-8713-B625B83C779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png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png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ln w="1800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804CB9AD-E59D-45C9-8F13-8C5F4526A7BF}" type="slidenum">
              <a:rPr b="0" lang="en-GB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E6687D7D-8A79-4A2F-B36F-F8D01484995D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810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504000" y="2376000"/>
            <a:ext cx="9071640" cy="27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315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GB" sz="315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24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GB" sz="24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50400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47360" y="516492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ffffff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7227360" y="516492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ffffff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FB1491C3-9DA3-4C19-9015-9132F07BF23B}" type="slidenum">
              <a:rPr b="0" lang="en-GB" sz="1400" spc="-1" strike="noStrike">
                <a:solidFill>
                  <a:srgbClr val="ffffff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63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42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1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Arial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 algn="r">
              <a:buNone/>
            </a:pPr>
            <a:fld id="{BCD107C6-C1BE-40BC-9BE6-D59129B4A7E5}" type="slidenum">
              <a:rPr b="0" lang="en-GB" sz="14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1584000"/>
            <a:ext cx="9071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ffffff"/>
                </a:solidFill>
                <a:latin typeface="Arial"/>
              </a:rPr>
              <a:t>Computers say what?</a:t>
            </a:r>
            <a:endParaRPr b="0" lang="en-GB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40000" y="17532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What language do computers speak?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" name="" descr=""/>
          <p:cNvPicPr/>
          <p:nvPr/>
        </p:nvPicPr>
        <p:blipFill>
          <a:blip r:embed="rId1"/>
          <a:stretch/>
        </p:blipFill>
        <p:spPr>
          <a:xfrm>
            <a:off x="3600000" y="2880000"/>
            <a:ext cx="2562120" cy="1441080"/>
          </a:xfrm>
          <a:prstGeom prst="rect">
            <a:avLst/>
          </a:prstGeom>
          <a:ln w="18000">
            <a:noFill/>
          </a:ln>
        </p:spPr>
      </p:pic>
      <p:sp>
        <p:nvSpPr>
          <p:cNvPr id="30" name=""/>
          <p:cNvSpPr txBox="1"/>
          <p:nvPr/>
        </p:nvSpPr>
        <p:spPr>
          <a:xfrm rot="19200000">
            <a:off x="899640" y="900000"/>
            <a:ext cx="1620000" cy="54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Hej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" name="" descr=""/>
          <p:cNvPicPr/>
          <p:nvPr/>
        </p:nvPicPr>
        <p:blipFill>
          <a:blip r:embed="rId2"/>
          <a:stretch/>
        </p:blipFill>
        <p:spPr>
          <a:xfrm rot="19200000">
            <a:off x="1620000" y="1222560"/>
            <a:ext cx="574920" cy="360000"/>
          </a:xfrm>
          <a:prstGeom prst="rect">
            <a:avLst/>
          </a:prstGeom>
          <a:ln w="18000">
            <a:noFill/>
          </a:ln>
        </p:spPr>
      </p:pic>
      <p:sp>
        <p:nvSpPr>
          <p:cNvPr id="32" name=""/>
          <p:cNvSpPr txBox="1"/>
          <p:nvPr/>
        </p:nvSpPr>
        <p:spPr>
          <a:xfrm>
            <a:off x="1008000" y="3600000"/>
            <a:ext cx="1800000" cy="5428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こんにちは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1260000" y="3962880"/>
            <a:ext cx="1260000" cy="900000"/>
          </a:xfrm>
          <a:prstGeom prst="rect">
            <a:avLst/>
          </a:prstGeom>
          <a:solidFill>
            <a:srgbClr val="59a5bf"/>
          </a:solidFill>
          <a:ln w="18000">
            <a:solidFill>
              <a:srgbClr val="2382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/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" name="" descr=""/>
          <p:cNvPicPr/>
          <p:nvPr/>
        </p:nvPicPr>
        <p:blipFill>
          <a:blip r:embed="rId3"/>
          <a:stretch/>
        </p:blipFill>
        <p:spPr>
          <a:xfrm>
            <a:off x="1260000" y="3989160"/>
            <a:ext cx="1256400" cy="837720"/>
          </a:xfrm>
          <a:prstGeom prst="rect">
            <a:avLst/>
          </a:prstGeom>
          <a:ln w="18000">
            <a:noFill/>
          </a:ln>
        </p:spPr>
      </p:pic>
      <p:pic>
        <p:nvPicPr>
          <p:cNvPr id="35" name="" descr=""/>
          <p:cNvPicPr/>
          <p:nvPr/>
        </p:nvPicPr>
        <p:blipFill>
          <a:blip r:embed="rId4"/>
          <a:stretch/>
        </p:blipFill>
        <p:spPr>
          <a:xfrm>
            <a:off x="7734960" y="3596400"/>
            <a:ext cx="1085040" cy="543600"/>
          </a:xfrm>
          <a:prstGeom prst="rect">
            <a:avLst/>
          </a:prstGeom>
          <a:ln w="18000">
            <a:noFill/>
          </a:ln>
        </p:spPr>
      </p:pic>
      <p:sp>
        <p:nvSpPr>
          <p:cNvPr id="36" name=""/>
          <p:cNvSpPr txBox="1"/>
          <p:nvPr/>
        </p:nvSpPr>
        <p:spPr>
          <a:xfrm>
            <a:off x="7735680" y="3240000"/>
            <a:ext cx="1084320" cy="37368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Hello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1876320" y="1174680"/>
            <a:ext cx="1363680" cy="1165320"/>
          </a:xfrm>
          <a:prstGeom prst="rect">
            <a:avLst/>
          </a:prstGeom>
          <a:ln w="18000">
            <a:noFill/>
          </a:ln>
        </p:spPr>
      </p:pic>
      <p:sp>
        <p:nvSpPr>
          <p:cNvPr id="38" name=""/>
          <p:cNvSpPr/>
          <p:nvPr/>
        </p:nvSpPr>
        <p:spPr>
          <a:xfrm>
            <a:off x="3960000" y="720000"/>
            <a:ext cx="2160000" cy="1080000"/>
          </a:xfrm>
          <a:prstGeom prst="wedgeRoundRectCallout">
            <a:avLst>
              <a:gd name="adj1" fmla="val -110953"/>
              <a:gd name="adj2" fmla="val 35467"/>
              <a:gd name="adj3" fmla="val 16667"/>
            </a:avLst>
          </a:prstGeom>
          <a:solidFill>
            <a:srgbClr val="59a5bf"/>
          </a:solidFill>
          <a:ln w="18000">
            <a:solidFill>
              <a:srgbClr val="2382a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26532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1" lang="en-GB" sz="2800" spc="-1" strike="noStrike">
                <a:solidFill>
                  <a:srgbClr val="000000"/>
                </a:solidFill>
                <a:latin typeface="Arial"/>
              </a:rPr>
              <a:t>01001000 01100101 01101100 01101100 01101111</a:t>
            </a:r>
            <a:br>
              <a:rPr sz="2800"/>
            </a:br>
            <a:endParaRPr b="1" lang="en-GB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600000" y="946800"/>
            <a:ext cx="2700000" cy="8532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4000" spc="-1" strike="noStrike">
                <a:solidFill>
                  <a:srgbClr val="000000"/>
                </a:solidFill>
                <a:latin typeface="Arial"/>
              </a:rPr>
              <a:t>Hello</a:t>
            </a:r>
            <a:endParaRPr b="0" lang="en-GB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540000" y="3193200"/>
            <a:ext cx="9071640" cy="166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Does anyone know the name for these types of numbers?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 txBox="1"/>
          <p:nvPr/>
        </p:nvSpPr>
        <p:spPr>
          <a:xfrm>
            <a:off x="3420000" y="900000"/>
            <a:ext cx="2700000" cy="72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3600" spc="-1" strike="noStrike">
                <a:solidFill>
                  <a:srgbClr val="000000"/>
                </a:solidFill>
                <a:latin typeface="Arial"/>
              </a:rPr>
              <a:t>Binary</a:t>
            </a:r>
            <a:endParaRPr b="0" lang="en-GB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900000" y="2160000"/>
            <a:ext cx="8460000" cy="234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Binary is a number based system where the only digits:  1 and 0. This is called base2 . Computers use binary because electricity can only be ON(1) or OFF(0)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We are used to working in a base10 number system where we have digits from 0 – 9.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80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So how do computers talk binary?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40000" y="1440000"/>
            <a:ext cx="8820000" cy="396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060"/>
              </a:spcBef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Computers are made from millions if not billions of tiny switches, and like a light switch, you can turn it off (0) or on (1).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Computers use these switches in very complex chips to do maths such as addition, subtraction, multiplication.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These on/off (1/0) bits of data are sent via electrical signals like the light, it can be on or off . Each 1 or 0 is called a `bit`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68360" y="19332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Writing some Binary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700000" y="3060000"/>
            <a:ext cx="4320000" cy="90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Write your name in binary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540000" y="360000"/>
            <a:ext cx="6877800" cy="50025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So how do we talk to computers?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20000" y="1440000"/>
            <a:ext cx="8460000" cy="37875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GB" sz="2100" spc="-1" strike="noStrike">
                <a:solidFill>
                  <a:srgbClr val="000000"/>
                </a:solidFill>
                <a:latin typeface="Arial"/>
              </a:rPr>
              <a:t>We don’t speak fluent binary, so how do we talk to computers? 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We humans created languages called computer programming languages to simplify talking to computers.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These come in two main types ( low level, high level ).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Arial"/>
              </a:rPr>
              <a:t>Low Level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 - Assembly and Machine Language that is closer to the computer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Arial"/>
              </a:rPr>
              <a:t>High Level</a:t>
            </a: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 -  Pseudo English languages ( Java , C, C#, Python) , Block-based ( Scratch )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88360" y="6732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Hello, World!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40000" y="1980000"/>
            <a:ext cx="8820000" cy="306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The simplest program when learning any language is the `Hello World` program.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C: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Scratch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: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Python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1048320" y="2340000"/>
            <a:ext cx="4171680" cy="1190160"/>
          </a:xfrm>
          <a:prstGeom prst="rect">
            <a:avLst/>
          </a:prstGeom>
          <a:ln w="18000">
            <a:noFill/>
          </a:ln>
        </p:spPr>
      </p:pic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6783840" y="2340000"/>
            <a:ext cx="1676160" cy="1361880"/>
          </a:xfrm>
          <a:prstGeom prst="rect">
            <a:avLst/>
          </a:prstGeom>
          <a:ln w="18000">
            <a:noFill/>
          </a:ln>
        </p:spPr>
      </p:pic>
      <p:pic>
        <p:nvPicPr>
          <p:cNvPr id="55" name="" descr=""/>
          <p:cNvPicPr/>
          <p:nvPr/>
        </p:nvPicPr>
        <p:blipFill>
          <a:blip r:embed="rId3"/>
          <a:stretch/>
        </p:blipFill>
        <p:spPr>
          <a:xfrm>
            <a:off x="1632240" y="3780000"/>
            <a:ext cx="3047760" cy="119016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68360" y="21132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How do these programs work?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360000" y="3240000"/>
            <a:ext cx="8820000" cy="137016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We do not speak  binary, computers do not speak programming languages like C,Python,Scratch. So how do they communicate?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88360" y="144000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Translator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720000" y="2566800"/>
            <a:ext cx="8280000" cy="2394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Computers need a translator (compiler or interpreter*), Just like if we wanted to understand another language we can use translators.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English - `Hello` &gt; Spanish - `Hola`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Python - `print("Hello, Wolrd!")` &gt; lots of 0101010101010101’s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Translation Ladder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260000" y="1260000"/>
            <a:ext cx="6840000" cy="378000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noAutofit/>
          </a:bodyPr>
          <a:p>
            <a:pPr algn="ctr"/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GB" sz="2100" spc="-1" strike="noStrike">
                <a:solidFill>
                  <a:srgbClr val="000000"/>
                </a:solidFill>
                <a:latin typeface="Arial"/>
              </a:rPr>
              <a:t>Human Language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↓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Programming Language ( C, Python )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↓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Translator ( Interpreter / Compiler )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↓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Machine Code ( Binary 0/1 )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↓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100" spc="-1" strike="noStrike">
                <a:solidFill>
                  <a:srgbClr val="000000"/>
                </a:solidFill>
                <a:latin typeface="Arial"/>
                <a:ea typeface="Arial"/>
              </a:rPr>
              <a:t>Electricity ( On / Off</a:t>
            </a:r>
            <a:endParaRPr b="0" lang="en-GB" sz="2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540000" y="1391400"/>
            <a:ext cx="9071640" cy="1404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Everything you see on screen, Games,</a:t>
            </a:r>
            <a:br>
              <a:rPr sz="3300"/>
            </a:b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YouTube videos, Websites are all just </a:t>
            </a:r>
            <a:br>
              <a:rPr sz="3300"/>
            </a:br>
            <a:r>
              <a:rPr b="0" lang="en-GB" sz="3300" spc="-1" strike="noStrike">
                <a:solidFill>
                  <a:srgbClr val="000000"/>
                </a:solidFill>
                <a:latin typeface="Arial"/>
              </a:rPr>
              <a:t>1s and 0s</a:t>
            </a:r>
            <a:endParaRPr b="0" lang="en-GB" sz="3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3240000" y="3039120"/>
            <a:ext cx="3237480" cy="182088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376000" y="2376000"/>
            <a:ext cx="719964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This work is licensed under a Creative Commons Attribution-ShareAlike 3.0 Unported License.</a:t>
            </a:r>
            <a:br>
              <a:rPr sz="2200"/>
            </a:b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It makes use of the works of Mateus Machado Luna.</a:t>
            </a:r>
            <a:endParaRPr b="0" lang="en-GB" sz="2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5" name="" descr=""/>
          <p:cNvPicPr/>
          <p:nvPr/>
        </p:nvPicPr>
        <p:blipFill>
          <a:blip r:embed="rId1"/>
          <a:stretch/>
        </p:blipFill>
        <p:spPr>
          <a:xfrm>
            <a:off x="816120" y="2716200"/>
            <a:ext cx="837720" cy="294840"/>
          </a:xfrm>
          <a:prstGeom prst="rect">
            <a:avLst/>
          </a:prstGeom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2026-02-19T11:36:29Z</dcterms:created>
  <dc:creator/>
  <dc:description/>
  <dc:language>en-GB</dc:language>
  <cp:lastModifiedBy/>
  <cp:lastPrinted>2026-02-19T12:59:14Z</cp:lastPrinted>
  <dcterms:modified xsi:type="dcterms:W3CDTF">2026-02-19T13:30:02Z</dcterms:modified>
  <cp:revision>4</cp:revision>
  <dc:subject/>
  <dc:title>Blueprint Plans</dc:title>
</cp:coreProperties>
</file>