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A6F184-1E38-415C-8DC7-3F71AA1555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endParaRPr b="0" lang="en-GB" sz="4500" spc="-1" strike="noStrike">
              <a:solidFill>
                <a:srgbClr val="04617b"/>
              </a:solidFill>
              <a:latin typeface="Noto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00000" cy="40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5C8593-63CB-4B01-9F69-5A52D93E25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7A9CE8-ECEB-4333-B601-EF3F48806C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E0654A1-DF48-4C3F-865B-7F1E42CC5E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3780000"/>
            <a:ext cx="10080000" cy="18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36000" dir="162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en-GB" sz="22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dt" idx="1"/>
          </p:nvPr>
        </p:nvSpPr>
        <p:spPr>
          <a:xfrm>
            <a:off x="450000" y="5130000"/>
            <a:ext cx="2340000" cy="450000"/>
          </a:xfrm>
          <a:prstGeom prst="rect">
            <a:avLst/>
          </a:prstGeom>
          <a:noFill/>
          <a:ln w="0">
            <a:solidFill>
              <a:srgbClr val="808080"/>
            </a:solidFill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2400" spc="-1" strike="noStrike">
                <a:solidFill>
                  <a:srgbClr val="dbf5f9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GB" sz="2400" spc="-1" strike="noStrike">
                <a:solidFill>
                  <a:srgbClr val="dbf5f9"/>
                </a:solidFill>
                <a:latin typeface="Noto Sans"/>
              </a:rPr>
              <a:t>&lt;date/time&gt;</a:t>
            </a:r>
            <a:r>
              <a:rPr b="0" lang="en-GB" sz="2400" spc="-1" strike="noStrike">
                <a:solidFill>
                  <a:srgbClr val="dbf5f9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dbf5f9"/>
              </a:solidFill>
              <a:latin typeface="Noto Sans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solidFill>
              <a:srgbClr val="808080"/>
            </a:solidFill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2400" spc="-1" strike="noStrike">
                <a:solidFill>
                  <a:srgbClr val="dbf5f9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GB" sz="2400" spc="-1" strike="noStrike">
                <a:solidFill>
                  <a:srgbClr val="dbf5f9"/>
                </a:solidFill>
                <a:latin typeface="Noto Sans"/>
              </a:rPr>
              <a:t>&lt;footer&gt;</a:t>
            </a:r>
            <a:r>
              <a:rPr b="0" lang="en-GB" sz="2400" spc="-1" strike="noStrike">
                <a:solidFill>
                  <a:srgbClr val="dbf5f9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dbf5f9"/>
              </a:solidFill>
              <a:latin typeface="Noto Sans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3"/>
          </p:nvPr>
        </p:nvSpPr>
        <p:spPr>
          <a:xfrm>
            <a:off x="7200000" y="5130000"/>
            <a:ext cx="2340000" cy="450000"/>
          </a:xfrm>
          <a:prstGeom prst="rect">
            <a:avLst/>
          </a:prstGeom>
          <a:noFill/>
          <a:ln w="0">
            <a:solidFill>
              <a:srgbClr val="808080"/>
            </a:solidFill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2400" spc="-1" strike="noStrike">
                <a:solidFill>
                  <a:srgbClr val="dbf5f9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516E5076-E2FF-4A51-8F92-8AEBCABFDF87}" type="slidenum">
              <a:rPr b="0" lang="en-GB" sz="2400" spc="-1" strike="noStrike">
                <a:solidFill>
                  <a:srgbClr val="dbf5f9"/>
                </a:solidFill>
                <a:latin typeface="Noto Sans"/>
              </a:rPr>
              <a:t>&lt;number&gt;</a:t>
            </a:fld>
            <a:r>
              <a:rPr b="0" lang="en-GB" sz="2400" spc="-1" strike="noStrike">
                <a:solidFill>
                  <a:srgbClr val="dbf5f9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dbf5f9"/>
              </a:solidFill>
              <a:latin typeface="Noto Sans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450000" y="27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en-GB" sz="6000" spc="-1" strike="noStrike">
                <a:solidFill>
                  <a:srgbClr val="04617b"/>
                </a:solidFill>
                <a:latin typeface="Noto Sans"/>
              </a:rPr>
              <a:t>Click to edit the title text format</a:t>
            </a:r>
            <a:endParaRPr b="0" lang="en-GB" sz="6000" spc="-1" strike="noStrike">
              <a:solidFill>
                <a:srgbClr val="04617b"/>
              </a:solidFill>
              <a:latin typeface="Noto Sans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0000" y="3870000"/>
            <a:ext cx="9000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6182"/>
          </a:bodyPr>
          <a:p>
            <a:pPr marL="432000" indent="-324000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GB" sz="2100" spc="-1" strike="noStrike">
                <a:solidFill>
                  <a:srgbClr val="dbf5f9"/>
                </a:solidFill>
                <a:latin typeface="Noto Sans"/>
              </a:rPr>
              <a:t>Click to edit the outline text format</a:t>
            </a:r>
            <a:endParaRPr b="0" lang="en-GB" sz="2100" spc="-1" strike="noStrike">
              <a:solidFill>
                <a:srgbClr val="dbf5f9"/>
              </a:solidFill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en-GB" sz="1650" spc="-1" strike="noStrike">
                <a:solidFill>
                  <a:srgbClr val="dbf5f9"/>
                </a:solidFill>
                <a:latin typeface="Noto Sans"/>
              </a:rPr>
              <a:t>Second Outline Level</a:t>
            </a:r>
            <a:endParaRPr b="0" lang="en-GB" sz="1650" spc="-1" strike="noStrike">
              <a:solidFill>
                <a:srgbClr val="dbf5f9"/>
              </a:solidFill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dbf5f9"/>
                </a:solidFill>
                <a:latin typeface="Noto Sans"/>
              </a:rPr>
              <a:t>Third Outline Level</a:t>
            </a:r>
            <a:endParaRPr b="0" lang="en-GB" sz="1800" spc="-1" strike="noStrike">
              <a:solidFill>
                <a:srgbClr val="dbf5f9"/>
              </a:solidFill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en-GB" sz="1500" spc="-1" strike="noStrike">
                <a:solidFill>
                  <a:srgbClr val="dbf5f9"/>
                </a:solidFill>
                <a:latin typeface="Noto Sans"/>
              </a:rPr>
              <a:t>Fourth Outline Level</a:t>
            </a:r>
            <a:endParaRPr b="0" lang="en-GB" sz="1500" spc="-1" strike="noStrike">
              <a:solidFill>
                <a:srgbClr val="dbf5f9"/>
              </a:solidFill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dbf5f9"/>
                </a:solidFill>
                <a:latin typeface="Noto Sans"/>
              </a:rPr>
              <a:t>Fifth Outline Level</a:t>
            </a:r>
            <a:endParaRPr b="0" lang="en-GB" sz="1500" spc="-1" strike="noStrike">
              <a:solidFill>
                <a:srgbClr val="dbf5f9"/>
              </a:solidFill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dbf5f9"/>
                </a:solidFill>
                <a:latin typeface="Noto Sans"/>
              </a:rPr>
              <a:t>Sixth Outline Level</a:t>
            </a:r>
            <a:endParaRPr b="0" lang="en-GB" sz="1500" spc="-1" strike="noStrike">
              <a:solidFill>
                <a:srgbClr val="dbf5f9"/>
              </a:solidFill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dbf5f9"/>
                </a:solidFill>
                <a:latin typeface="Noto Sans"/>
              </a:rPr>
              <a:t>Seventh Outline Level</a:t>
            </a:r>
            <a:endParaRPr b="0" lang="en-GB" sz="1500" spc="-1" strike="noStrike">
              <a:solidFill>
                <a:srgbClr val="dbf5f9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10800" dir="54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en-GB" sz="22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40000" y="9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en-GB" sz="4500" spc="-1" strike="noStrike">
                <a:solidFill>
                  <a:srgbClr val="ffffff"/>
                </a:solidFill>
                <a:latin typeface="Noto Sans"/>
              </a:rPr>
              <a:t>Click to edit the title text format</a:t>
            </a:r>
            <a:endParaRPr b="0" lang="en-GB" sz="45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GB" sz="24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GB" sz="21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GB" sz="21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540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&lt;date/time&gt;</a:t>
            </a: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484848"/>
              </a:solidFill>
              <a:latin typeface="Noto Sans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&lt;footer&gt;</a:t>
            </a: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484848"/>
              </a:solidFill>
              <a:latin typeface="Noto Sans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200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A519B2B8-12AC-4F7D-AE20-6604E8ACF092}" type="slidenum">
              <a:rPr b="0" lang="en-GB" sz="2400" spc="-1" strike="noStrike">
                <a:solidFill>
                  <a:srgbClr val="484848"/>
                </a:solidFill>
                <a:latin typeface="Noto Sans"/>
              </a:rPr>
              <a:t>&lt;number&gt;</a:t>
            </a:fld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484848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flipV="1">
            <a:off x="0" y="0"/>
            <a:ext cx="10080000" cy="1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10800" dir="54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en-GB" sz="22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b="0" lang="en-GB" sz="4500" spc="-1" strike="noStrike">
                <a:solidFill>
                  <a:srgbClr val="04617b"/>
                </a:solidFill>
                <a:latin typeface="Noto Sans"/>
              </a:rPr>
              <a:t>Click to edit the title text format</a:t>
            </a:r>
            <a:endParaRPr b="0" lang="en-GB" sz="4500" spc="-1" strike="noStrike">
              <a:solidFill>
                <a:srgbClr val="04617b"/>
              </a:solidFill>
              <a:latin typeface="Noto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40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GB" sz="24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en-GB" sz="21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GB" sz="21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540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&lt;date/time&gt;</a:t>
            </a: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484848"/>
              </a:solidFill>
              <a:latin typeface="Noto San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20000" y="51192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&lt;footer&gt;</a:t>
            </a: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484848"/>
              </a:solidFill>
              <a:latin typeface="Noto Sans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650000" y="5130000"/>
            <a:ext cx="189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04AD2A32-DE3D-4468-B942-232CE8E292E6}" type="slidenum">
              <a:rPr b="0" lang="en-GB" sz="2400" spc="-1" strike="noStrike">
                <a:solidFill>
                  <a:srgbClr val="484848"/>
                </a:solidFill>
                <a:latin typeface="Noto Sans"/>
              </a:rPr>
              <a:t>&lt;number&gt;</a:t>
            </a:fld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484848"/>
              </a:solidFill>
              <a:latin typeface="Noto Sans"/>
            </a:endParaRPr>
          </a:p>
        </p:txBody>
      </p:sp>
      <p:sp>
        <p:nvSpPr>
          <p:cNvPr id="20" name=""/>
          <p:cNvSpPr/>
          <p:nvPr/>
        </p:nvSpPr>
        <p:spPr>
          <a:xfrm>
            <a:off x="0" y="5580000"/>
            <a:ext cx="10080000" cy="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10800" dir="162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en-GB" sz="2200" spc="-1" strike="noStrike">
              <a:solidFill>
                <a:srgbClr val="ffffff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0000" y="27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en-GB" sz="6000" spc="-1" strike="noStrike">
                <a:solidFill>
                  <a:srgbClr val="04617b"/>
                </a:solidFill>
                <a:latin typeface="Noto Sans"/>
              </a:rPr>
              <a:t>Intro</a:t>
            </a:r>
            <a:r>
              <a:rPr b="0" lang="en-GB" sz="6000" spc="-1" strike="noStrike">
                <a:solidFill>
                  <a:srgbClr val="04617b"/>
                </a:solidFill>
                <a:latin typeface="Noto Sans"/>
              </a:rPr>
              <a:t>ducti</a:t>
            </a:r>
            <a:r>
              <a:rPr b="0" lang="en-GB" sz="6000" spc="-1" strike="noStrike">
                <a:solidFill>
                  <a:srgbClr val="04617b"/>
                </a:solidFill>
                <a:latin typeface="Noto Sans"/>
              </a:rPr>
              <a:t>on to </a:t>
            </a:r>
            <a:r>
              <a:rPr b="0" lang="en-GB" sz="6000" spc="-1" strike="noStrike">
                <a:solidFill>
                  <a:srgbClr val="04617b"/>
                </a:solidFill>
                <a:latin typeface="Noto Sans"/>
              </a:rPr>
              <a:t>Pytho</a:t>
            </a:r>
            <a:r>
              <a:rPr b="0" lang="en-GB" sz="6000" spc="-1" strike="noStrike">
                <a:solidFill>
                  <a:srgbClr val="04617b"/>
                </a:solidFill>
                <a:latin typeface="Noto Sans"/>
              </a:rPr>
              <a:t>n</a:t>
            </a:r>
            <a:endParaRPr b="0" lang="en-GB" sz="6000" spc="-1" strike="noStrike">
              <a:solidFill>
                <a:srgbClr val="04617b"/>
              </a:solidFill>
              <a:latin typeface="Noto Sans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ubTitle"/>
          </p:nvPr>
        </p:nvSpPr>
        <p:spPr>
          <a:xfrm>
            <a:off x="540000" y="239040"/>
            <a:ext cx="9000000" cy="69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Get Coding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880000" y="1080000"/>
            <a:ext cx="4323240" cy="45324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https://www.online-python.com/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334440" y="1620000"/>
            <a:ext cx="9205560" cy="3791160"/>
          </a:xfrm>
          <a:prstGeom prst="rect">
            <a:avLst/>
          </a:prstGeom>
          <a:ln w="18000">
            <a:noFill/>
          </a:ln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ubTitle"/>
          </p:nvPr>
        </p:nvSpPr>
        <p:spPr>
          <a:xfrm>
            <a:off x="502920" y="207720"/>
            <a:ext cx="9071640" cy="69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Getting Started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3301920" y="2700000"/>
            <a:ext cx="2933280" cy="285480"/>
          </a:xfrm>
          <a:prstGeom prst="rect">
            <a:avLst/>
          </a:prstGeom>
          <a:ln w="18000">
            <a:noFill/>
          </a:ln>
        </p:spPr>
      </p:pic>
      <p:sp>
        <p:nvSpPr>
          <p:cNvPr id="27" name=""/>
          <p:cNvSpPr txBox="1"/>
          <p:nvPr/>
        </p:nvSpPr>
        <p:spPr>
          <a:xfrm>
            <a:off x="110160" y="864000"/>
            <a:ext cx="9859680" cy="185076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Hello World: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The simplest program, this uses the `</a:t>
            </a:r>
            <a:r>
              <a:rPr b="0" i="1" lang="en-GB" sz="2200" spc="-1" strike="noStrike">
                <a:solidFill>
                  <a:srgbClr val="000000"/>
                </a:solidFill>
                <a:latin typeface="Noto Sans"/>
              </a:rPr>
              <a:t>print</a:t>
            </a:r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` function to display `Hello, World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2340000" y="2520000"/>
            <a:ext cx="2160000" cy="54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Code: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980000" y="3420000"/>
            <a:ext cx="2160000" cy="54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Output: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30" name="" descr=""/>
          <p:cNvPicPr/>
          <p:nvPr/>
        </p:nvPicPr>
        <p:blipFill>
          <a:blip r:embed="rId2"/>
          <a:srcRect l="0" t="44458" r="0" b="0"/>
          <a:stretch/>
        </p:blipFill>
        <p:spPr>
          <a:xfrm>
            <a:off x="3242880" y="3535200"/>
            <a:ext cx="3057120" cy="316800"/>
          </a:xfrm>
          <a:prstGeom prst="rect">
            <a:avLst/>
          </a:prstGeom>
          <a:ln w="18000">
            <a:noFill/>
          </a:ln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Variables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720000" y="1440000"/>
            <a:ext cx="9000000" cy="378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Variables are a place to store data values, variables are created by assigning a value to it.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example: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x = 5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y = “Billy”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33" name="" descr=""/>
          <p:cNvPicPr/>
          <p:nvPr/>
        </p:nvPicPr>
        <p:blipFill>
          <a:blip r:embed="rId1"/>
          <a:srcRect l="0" t="40866" r="0" b="0"/>
          <a:stretch/>
        </p:blipFill>
        <p:spPr>
          <a:xfrm>
            <a:off x="5220000" y="3600000"/>
            <a:ext cx="2676240" cy="540000"/>
          </a:xfrm>
          <a:prstGeom prst="rect">
            <a:avLst/>
          </a:prstGeom>
          <a:ln w="18000">
            <a:noFill/>
          </a:ln>
        </p:spPr>
      </p:pic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2481120" y="3125880"/>
            <a:ext cx="2018880" cy="1914120"/>
          </a:xfrm>
          <a:prstGeom prst="rect">
            <a:avLst/>
          </a:prstGeom>
          <a:ln w="18000">
            <a:noFill/>
          </a:ln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Data types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450000" y="1260000"/>
            <a:ext cx="9180000" cy="396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t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In programming data types are important. Variables can store different data types and can do different things with different data types.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example(These are not all the data types):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graphicFrame>
        <p:nvGraphicFramePr>
          <p:cNvPr id="37" name=""/>
          <p:cNvGraphicFramePr/>
          <p:nvPr/>
        </p:nvGraphicFramePr>
        <p:xfrm>
          <a:off x="1410120" y="3274920"/>
          <a:ext cx="5075280" cy="2721240"/>
        </p:xfrm>
        <a:graphic>
          <a:graphicData uri="http://schemas.openxmlformats.org/drawingml/2006/table">
            <a:tbl>
              <a:tblPr/>
              <a:tblGrid>
                <a:gridCol w="2537640"/>
                <a:gridCol w="2538000"/>
                <a:gridCol w="2538000"/>
              </a:tblGrid>
              <a:tr h="4536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Type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Name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Example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36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Text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str ( string )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“</a:t>
                      </a: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Billy”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36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Number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int ( integer ), float, comples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int: 1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float: 3.14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36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Boolean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bool 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1/0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True/False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Numbers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20000" y="1080000"/>
            <a:ext cx="8820000" cy="414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Numbers can be whole or decimal or complex. We will focus on the first two.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example: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x = 1 ← this is an int or an integer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y = 3.1124125 ← This is a float or floating point number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Operators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80000" y="1080000"/>
            <a:ext cx="9540000" cy="414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t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Operations such as Addition(+), Subtraction(-), Multiplication(*),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Division(/) Are the basic Arithmetic Operators.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br>
              <a:rPr sz="2200"/>
            </a:br>
            <a:br>
              <a:rPr sz="2200"/>
            </a:b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2700000" y="2505960"/>
            <a:ext cx="2160000" cy="54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Code: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2736000" y="3441960"/>
            <a:ext cx="2160000" cy="54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Output: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3456000" y="3045960"/>
            <a:ext cx="1914120" cy="380520"/>
          </a:xfrm>
          <a:prstGeom prst="rect">
            <a:avLst/>
          </a:prstGeom>
          <a:ln w="18000">
            <a:noFill/>
          </a:ln>
        </p:spPr>
      </p:pic>
      <p:pic>
        <p:nvPicPr>
          <p:cNvPr id="45" name="" descr=""/>
          <p:cNvPicPr/>
          <p:nvPr/>
        </p:nvPicPr>
        <p:blipFill>
          <a:blip r:embed="rId2"/>
          <a:srcRect l="0" t="31423" r="0" b="0"/>
          <a:stretch/>
        </p:blipFill>
        <p:spPr>
          <a:xfrm>
            <a:off x="3062880" y="4108680"/>
            <a:ext cx="3057120" cy="391320"/>
          </a:xfrm>
          <a:prstGeom prst="rect">
            <a:avLst/>
          </a:prstGeom>
          <a:ln w="18000">
            <a:noFill/>
          </a:ln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Logical Operators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540000" y="1440000"/>
            <a:ext cx="9000000" cy="378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There are other operators like comparison operators or logical operators. </a:t>
            </a:r>
            <a:br>
              <a:rPr sz="2200"/>
            </a:br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Logical operators are `and` , `or` and `not`.  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pPr>
              <a:lnSpc>
                <a:spcPct val="100000"/>
              </a:lnSpc>
            </a:pPr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Say, x = 5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pPr>
              <a:lnSpc>
                <a:spcPct val="100000"/>
              </a:lnSpc>
            </a:pP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graphicFrame>
        <p:nvGraphicFramePr>
          <p:cNvPr id="48" name=""/>
          <p:cNvGraphicFramePr/>
          <p:nvPr/>
        </p:nvGraphicFramePr>
        <p:xfrm>
          <a:off x="128520" y="3309120"/>
          <a:ext cx="8819640" cy="1944720"/>
        </p:xfrm>
        <a:graphic>
          <a:graphicData uri="http://schemas.openxmlformats.org/drawingml/2006/table">
            <a:tbl>
              <a:tblPr/>
              <a:tblGrid>
                <a:gridCol w="1479240"/>
                <a:gridCol w="3753000"/>
                <a:gridCol w="2295720"/>
                <a:gridCol w="2295720"/>
              </a:tblGrid>
              <a:tr h="4536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Operator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Name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Example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684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and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TRUE if both statements are TRUE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 &lt; 6 and x &lt; 10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TRUE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36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or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TRUE if one Statement is true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 &lt; 7 or x &lt;4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TRUE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36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not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FALSE if the result is TRUE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Noto Sans"/>
                        </a:rPr>
                        <a:t>not(x &lt; 5 and x &lt; 10)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Noto Sans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FALSE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Comparison Operators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540000" y="1440000"/>
            <a:ext cx="9000000" cy="378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t">
            <a:noAutofit/>
          </a:bodyPr>
          <a:p>
            <a:pPr>
              <a:lnSpc>
                <a:spcPct val="100000"/>
              </a:lnSpc>
            </a:pPr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Comparison operators:  x = 5 , y = 5</a:t>
            </a:r>
            <a:br>
              <a:rPr sz="2200"/>
            </a:br>
            <a:br>
              <a:rPr sz="2200"/>
            </a:b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pPr>
              <a:lnSpc>
                <a:spcPct val="100000"/>
              </a:lnSpc>
            </a:pP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pPr>
              <a:lnSpc>
                <a:spcPct val="100000"/>
              </a:lnSpc>
            </a:pP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graphicFrame>
        <p:nvGraphicFramePr>
          <p:cNvPr id="51" name=""/>
          <p:cNvGraphicFramePr/>
          <p:nvPr/>
        </p:nvGraphicFramePr>
        <p:xfrm>
          <a:off x="1656360" y="1872000"/>
          <a:ext cx="5075280" cy="272124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692360"/>
                <a:gridCol w="1692360"/>
              </a:tblGrid>
              <a:tr h="4536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Operator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Name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Example</a:t>
                      </a:r>
                      <a:endParaRPr b="1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1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651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==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Equal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 == y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TRUE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36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!=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Not Equal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 !=y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FALSE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36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&gt;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Greater than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 &gt; y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FALSE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36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&lt;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Less than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 &lt; y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FALSE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36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&gt;=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Greater than or Equal to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 &gt;= y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TRUE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36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&lt;=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Less than or Equal to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 &lt;= y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TRUE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IF...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40000" y="1260000"/>
            <a:ext cx="9000000" cy="360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t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Using the Logical and Comparison Operators we can check `IF` statements are true or false.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1980000" y="2160000"/>
            <a:ext cx="4552560" cy="1171080"/>
          </a:xfrm>
          <a:prstGeom prst="rect">
            <a:avLst/>
          </a:prstGeom>
          <a:ln w="18000">
            <a:noFill/>
          </a:ln>
        </p:spPr>
      </p:pic>
      <p:pic>
        <p:nvPicPr>
          <p:cNvPr id="55" name="" descr=""/>
          <p:cNvPicPr/>
          <p:nvPr/>
        </p:nvPicPr>
        <p:blipFill>
          <a:blip r:embed="rId2"/>
          <a:stretch/>
        </p:blipFill>
        <p:spPr>
          <a:xfrm>
            <a:off x="1980000" y="3939480"/>
            <a:ext cx="2790360" cy="380520"/>
          </a:xfrm>
          <a:prstGeom prst="rect">
            <a:avLst/>
          </a:prstGeom>
          <a:ln w="18000">
            <a:noFill/>
          </a:ln>
        </p:spPr>
      </p:pic>
      <p:sp>
        <p:nvSpPr>
          <p:cNvPr id="56" name=""/>
          <p:cNvSpPr txBox="1"/>
          <p:nvPr/>
        </p:nvSpPr>
        <p:spPr>
          <a:xfrm>
            <a:off x="667440" y="2248920"/>
            <a:ext cx="2160000" cy="54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Code: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720000" y="3420000"/>
            <a:ext cx="2160000" cy="54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Output: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ELSE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980000" y="1563840"/>
            <a:ext cx="4676400" cy="1676160"/>
          </a:xfrm>
          <a:prstGeom prst="rect">
            <a:avLst/>
          </a:prstGeom>
          <a:ln w="18000">
            <a:noFill/>
          </a:ln>
        </p:spPr>
      </p:pic>
      <p:sp>
        <p:nvSpPr>
          <p:cNvPr id="60" name=""/>
          <p:cNvSpPr txBox="1"/>
          <p:nvPr/>
        </p:nvSpPr>
        <p:spPr>
          <a:xfrm>
            <a:off x="720000" y="1440000"/>
            <a:ext cx="2160000" cy="54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Code: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720000" y="3420360"/>
            <a:ext cx="2160000" cy="54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Output: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62" name="" descr=""/>
          <p:cNvPicPr/>
          <p:nvPr/>
        </p:nvPicPr>
        <p:blipFill>
          <a:blip r:embed="rId2"/>
          <a:stretch/>
        </p:blipFill>
        <p:spPr>
          <a:xfrm>
            <a:off x="1980000" y="4140000"/>
            <a:ext cx="2666520" cy="342720"/>
          </a:xfrm>
          <a:prstGeom prst="rect">
            <a:avLst/>
          </a:prstGeom>
          <a:ln w="18000">
            <a:noFill/>
          </a:ln>
        </p:spPr>
      </p:pic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ELIF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360000" y="1260000"/>
            <a:ext cx="9360000" cy="396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t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elif is when the previous if statement returns false you can add another if statement to check multiple expressions for true.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2296080" y="2147760"/>
            <a:ext cx="4723920" cy="2352240"/>
          </a:xfrm>
          <a:prstGeom prst="rect">
            <a:avLst/>
          </a:prstGeom>
          <a:ln w="18000">
            <a:noFill/>
          </a:ln>
        </p:spPr>
      </p:pic>
      <p:sp>
        <p:nvSpPr>
          <p:cNvPr id="66" name=""/>
          <p:cNvSpPr txBox="1"/>
          <p:nvPr/>
        </p:nvSpPr>
        <p:spPr>
          <a:xfrm>
            <a:off x="720000" y="2160000"/>
            <a:ext cx="2160000" cy="54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Code: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720000" y="4500000"/>
            <a:ext cx="2160000" cy="54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Output: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68" name="" descr=""/>
          <p:cNvPicPr/>
          <p:nvPr/>
        </p:nvPicPr>
        <p:blipFill>
          <a:blip r:embed="rId2"/>
          <a:stretch/>
        </p:blipFill>
        <p:spPr>
          <a:xfrm>
            <a:off x="2340000" y="4680000"/>
            <a:ext cx="2161800" cy="352080"/>
          </a:xfrm>
          <a:prstGeom prst="rect">
            <a:avLst/>
          </a:prstGeom>
          <a:ln w="18000">
            <a:noFill/>
          </a:ln>
        </p:spPr>
      </p:pic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Loops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40000" y="1440000"/>
            <a:ext cx="9180000" cy="342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t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There are two </a:t>
            </a:r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main types of </a:t>
            </a:r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loops, `For loops` </a:t>
            </a:r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and `While loops`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60000" y="1980000"/>
            <a:ext cx="1620000" cy="72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While loop: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320000" y="1980000"/>
            <a:ext cx="1620000" cy="72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For loop: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1260000" y="2880000"/>
            <a:ext cx="2028600" cy="1142640"/>
          </a:xfrm>
          <a:prstGeom prst="rect">
            <a:avLst/>
          </a:prstGeom>
          <a:ln w="18000">
            <a:noFill/>
          </a:ln>
        </p:spPr>
      </p:pic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4329360" y="2880000"/>
            <a:ext cx="5390640" cy="1247400"/>
          </a:xfrm>
          <a:prstGeom prst="rect">
            <a:avLst/>
          </a:prstGeom>
          <a:ln w="18000">
            <a:noFill/>
          </a:ln>
        </p:spPr>
      </p:pic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2026-03-18T10:46:30Z</dcterms:created>
  <dc:creator/>
  <dc:description/>
  <dc:language>en-GB</dc:language>
  <cp:lastModifiedBy/>
  <cp:lastPrinted>2026-03-19T14:43:24Z</cp:lastPrinted>
  <dcterms:modified xsi:type="dcterms:W3CDTF">2026-03-19T14:43:15Z</dcterms:modified>
  <cp:revision>2</cp:revision>
  <dc:subject/>
  <dc:title>Vivid</dc:title>
</cp:coreProperties>
</file>